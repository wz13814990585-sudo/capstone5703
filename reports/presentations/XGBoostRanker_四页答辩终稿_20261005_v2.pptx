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228a70c4414ec0" /><Relationship Type="http://schemas.openxmlformats.org/officeDocument/2006/relationships/extended-properties" Target="/docProps/app.xml" Id="R46723421f7f14d0c" /><Relationship Type="http://schemas.openxmlformats.org/officeDocument/2006/relationships/officeDocument" Target="/ppt/presentation.xml" Id="Rdfb37697a97147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89c4c10e6a42be"/>
  </p:sldMasterIdLst>
  <p:notesMasterIdLst>
    <p:notesMasterId xmlns:r="http://schemas.openxmlformats.org/officeDocument/2006/relationships" r:id="Rdec2b13429e941c0"/>
  </p:notesMasterIdLst>
  <p:sldIdLst>
    <p:sldId xmlns:r="http://schemas.openxmlformats.org/officeDocument/2006/relationships" id="256" r:id="Rd6093685e2f04aa2"/>
    <p:sldId xmlns:r="http://schemas.openxmlformats.org/officeDocument/2006/relationships" id="257" r:id="R0fd16f4cbfb84da8"/>
    <p:sldId xmlns:r="http://schemas.openxmlformats.org/officeDocument/2006/relationships" id="258" r:id="R003ea0b6f1464a82"/>
    <p:sldId xmlns:r="http://schemas.openxmlformats.org/officeDocument/2006/relationships" id="259" r:id="R1f8675eeda4a4d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ea59dcd6d244b3" /><Relationship Type="http://schemas.openxmlformats.org/officeDocument/2006/relationships/slideMaster" Target="/ppt/slideMasters/slideMaster1.xml" Id="R3b89c4c10e6a42be" /><Relationship Type="http://schemas.openxmlformats.org/officeDocument/2006/relationships/notesMaster" Target="/ppt/notesMasters/notesMaster1.xml" Id="Rdec2b13429e941c0" /><Relationship Type="http://schemas.openxmlformats.org/officeDocument/2006/relationships/presProps" Target="/ppt/presProps.xml" Id="Rb48f1a67cf3f4ceb" /><Relationship Type="http://schemas.openxmlformats.org/officeDocument/2006/relationships/tableStyles" Target="/ppt/tableStyles.xml" Id="R9452279f58ee41fc" /><Relationship Type="http://schemas.openxmlformats.org/officeDocument/2006/relationships/slide" Target="/ppt/slides/slide1.xml" Id="Rd6093685e2f04aa2" /><Relationship Type="http://schemas.openxmlformats.org/officeDocument/2006/relationships/slide" Target="/ppt/slides/slide2.xml" Id="R0fd16f4cbfb84da8" /><Relationship Type="http://schemas.openxmlformats.org/officeDocument/2006/relationships/slide" Target="/ppt/slides/slide3.xml" Id="R003ea0b6f1464a82" /><Relationship Type="http://schemas.openxmlformats.org/officeDocument/2006/relationships/slide" Target="/ppt/slides/slide4.xml" Id="R1f8675eeda4a4d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3a9fdcf4124d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c2e4f919494ec1" /><Relationship Type="http://schemas.openxmlformats.org/officeDocument/2006/relationships/notesMaster" Target="/ppt/notesMasters/notesMaster1.xml" Id="R2d23e737b57a40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412bf4ddec4c77" /><Relationship Type="http://schemas.openxmlformats.org/officeDocument/2006/relationships/notesMaster" Target="/ppt/notesMasters/notesMaster1.xml" Id="R298840b3178b41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523132d6e4ada" /><Relationship Type="http://schemas.openxmlformats.org/officeDocument/2006/relationships/notesMaster" Target="/ppt/notesMasters/notesMaster1.xml" Id="Rbcf4cf01b1ae4d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0725dcb19a44ba" /><Relationship Type="http://schemas.openxmlformats.org/officeDocument/2006/relationships/notesMaster" Target="/ppt/notesMasters/notesMaster1.xml" Id="Rc2c0c8d3e0c14b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讲解建议：先说明XGBRanker预测相对排名，而不是收益数值。五个基本面因子先做周内横截面百分位转换。训练阶段由连续下一周收益在每个训练周内生成0–4级relevance label。三个模型分别覆盖长期与短期窗口，最后对周内百分位分数等权平均。每次重训只使用当时已经实现的历史标签。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来源：/Users/april/Desktop/USYD 2026s2/5703/第二版/XGboost_ranker/data/model_configuration.json；/Users/april/Desktop/USYD 2026s2/5703/第二版/XGboost_ranker/README.md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讲解建议：超参数和因子没有在最终结果页上临时选择。模型选择阶段使用Week 260–521，并按时间分成260–324、325–389、390–455和456–521四段。先比较横截面预处理，再比较XGBoost目标函数、树结构、学习率、树数量和正则化。因子筛选分三批，共171个组合。Mean Rank IC是主指标，Rank ICIR和最差时间段Rank IC用于检查稳定性。图中的0.04896只属于模型选择区间。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来源：/Users/april/Desktop/USYD 2026s2/5703/第二版/history_fine/data/algorithm_optimization/stage_summary.csv；/Users/april/Desktop/USYD 2026s2/5703/第二版/history_fine/data/algorithm_optimization/experiment_manifest.json；/Users/april/Desktop/USYD 2026s2/5703/第二版/history_fine/data/feature_search/batched_feature_search_report.md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讲解建议：窗口和更新周期通过同一时间交叉验证框架比较。最终集成同时保留156周和52周窗口，用三年历史提供稳定性，用一年历史捕捉近期变化。三个模型每26周一起重训。以重训周t为例，Model 1使用t之前156周，Model 2和3使用t之前52周，随后预测26周。窗口在下一个重训点向前移动。训练时只使用已经实现的历史标签。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来源：/Users/april/Desktop/USYD 2026s2/5703/第二版/history_fine/data/algorithm_optimization/experiment_manifest.json；/Users/april/Desktop/USYD 2026s2/5703/第二版/XGboost_ranker/data/model_configuration.json；/Users/april/Desktop/USYD 2026s2/5703/第二版/XGboost_ranker/README.md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讲解建议：Rank IC衡量预测排名与下一周真实收益排名之间的相关性。三模型集成的Mean Rank IC为0.03311，略高于156周五因子单模型的0.03271；正Rank IC周比例为61.20%，高于所有单模型。分阶段结果显示前期Rank IC接近零，后半段明显更高，因此应表述为整体正向但存在时段差异。结果属于walk-forward历史评估，参数选择参考了同一份历史样本，未进行回测。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来源：/Users/april/Desktop/USYD 2026s2/5703/第二版/XGboost_ranker/data/component_metrics.csv；/Users/april/Desktop/USYD 2026s2/5703/第二版/XGboost_ranker/data/fold_metrics.csv；/Users/april/Desktop/USYD 2026s2/5703/第二版/XGboost_ranker/data/overall_metrics.csv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5ec36e51a47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aecddd0a804d26" /><Relationship Type="http://schemas.openxmlformats.org/officeDocument/2006/relationships/slideLayout" Target="/ppt/slideLayouts/slideLayout1.xml" Id="R678bae64d9bf43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8bae64d9bf43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2bb550cd3495e" /><Relationship Type="http://schemas.openxmlformats.org/officeDocument/2006/relationships/notesSlide" Target="/ppt/notesSlides/notesSlide1.xml" Id="R938b0cc88fed4d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8ae65ee9541f0" /><Relationship Type="http://schemas.openxmlformats.org/officeDocument/2006/relationships/chart" Target="/ppt/slides/charts/chart1.xml" Id="R8b8991251b154b56" /><Relationship Type="http://schemas.openxmlformats.org/officeDocument/2006/relationships/notesSlide" Target="/ppt/notesSlides/notesSlide2.xml" Id="R0bd28fbc66e444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557ad7c094eda" /><Relationship Type="http://schemas.openxmlformats.org/officeDocument/2006/relationships/notesSlide" Target="/ppt/notesSlides/notesSlide3.xml" Id="R9e539fa866454a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841fca15e4f9f" /><Relationship Type="http://schemas.openxmlformats.org/officeDocument/2006/relationships/chart" Target="/ppt/slides/charts/chart2.xml" Id="R86974f3bae5e48ff" /><Relationship Type="http://schemas.openxmlformats.org/officeDocument/2006/relationships/chart" Target="/ppt/slides/charts/chart3.xml" Id="R1cf83cb3255040c2" /><Relationship Type="http://schemas.openxmlformats.org/officeDocument/2006/relationships/notesSlide" Target="/ppt/notesSlides/notesSlide4.xml" Id="Rbddcfbe1ad1c444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Mean Rank IC</c:v>
          </c:tx>
          <c:spPr>
            <a:solidFill xmlns:a="http://schemas.openxmlformats.org/drawingml/2006/main">
              <a:srgbClr val="5C87B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BB5C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BB5C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C87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C87B2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C8B72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563A6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E46F47"/>
              </a:solidFill>
            </c:spPr>
          </c:dPt>
          <c:cat>
            <c:strLit>
              <c:ptCount val="7"/>
              <c:pt idx="0">
                <c:v>原始模型</c:v>
              </c:pt>
              <c:pt idx="1">
                <c:v>横截面排名</c:v>
              </c:pt>
              <c:pt idx="2">
                <c:v>超参数优化</c:v>
              </c:pt>
              <c:pt idx="3">
                <c:v>窗口与更新</c:v>
              </c:pt>
              <c:pt idx="4">
                <c:v>因子组合</c:v>
              </c:pt>
              <c:pt idx="5">
                <c:v>最佳单模型</c:v>
              </c:pt>
              <c:pt idx="6">
                <c:v>三模型集成</c:v>
              </c:pt>
            </c:strLit>
          </c:cat>
          <c:val>
            <c:numLit>
              <c:formatCode>0.0000</c:formatCode>
              <c:ptCount val="7"/>
              <c:pt idx="0">
                <c:v>0.021432</c:v>
              </c:pt>
              <c:pt idx="1">
                <c:v>0.023328</c:v>
              </c:pt>
              <c:pt idx="2">
                <c:v>0.026351</c:v>
              </c:pt>
              <c:pt idx="3">
                <c:v>0.036618</c:v>
              </c:pt>
              <c:pt idx="4">
                <c:v>0.039754</c:v>
              </c:pt>
              <c:pt idx="5">
                <c:v>0.043487</c:v>
              </c:pt>
              <c:pt idx="6">
                <c:v>0.04896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3233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F0F5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CE4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Mean Rank IC</c:v>
          </c:tx>
          <c:spPr>
            <a:solidFill xmlns:a="http://schemas.openxmlformats.org/drawingml/2006/main">
              <a:srgbClr val="5C87B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563A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BB5C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C8B7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46F47"/>
              </a:solidFill>
            </c:spPr>
          </c:dPt>
          <c:cat>
            <c:strLit>
              <c:ptCount val="4"/>
              <c:pt idx="0">
                <c:v>156周 / 五因子</c:v>
              </c:pt>
              <c:pt idx="1">
                <c:v>52周 / 两因子</c:v>
              </c:pt>
              <c:pt idx="2">
                <c:v>52周 / 正则五因子</c:v>
              </c:pt>
              <c:pt idx="3">
                <c:v>三模型集成</c:v>
              </c:pt>
            </c:strLit>
          </c:cat>
          <c:val>
            <c:numLit>
              <c:formatCode>0.0000</c:formatCode>
              <c:ptCount val="4"/>
              <c:pt idx="0">
                <c:v>0.032707</c:v>
              </c:pt>
              <c:pt idx="1">
                <c:v>0.023245</c:v>
              </c:pt>
              <c:pt idx="2">
                <c:v>0.027086</c:v>
              </c:pt>
              <c:pt idx="3">
                <c:v>0.033109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3233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F0F5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CE4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Rank IC</c:v>
          </c:tx>
          <c:spPr>
            <a:solidFill xmlns:a="http://schemas.openxmlformats.org/drawingml/2006/main">
              <a:srgbClr val="2563A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45B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BB5C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C87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563A6"/>
              </a:solidFill>
            </c:spPr>
          </c:dPt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156–246</c:v>
              </c:pt>
              <c:pt idx="1">
                <c:v>247–337</c:v>
              </c:pt>
              <c:pt idx="2">
                <c:v>338–429</c:v>
              </c:pt>
              <c:pt idx="3">
                <c:v>430–521</c:v>
              </c:pt>
            </c:strLit>
          </c:cat>
          <c:val>
            <c:numLit>
              <c:formatCode>0.0000</c:formatCode>
              <c:ptCount val="4"/>
              <c:pt idx="0">
                <c:v>-0.00559</c:v>
              </c:pt>
              <c:pt idx="1">
                <c:v>0.02512</c:v>
              </c:pt>
              <c:pt idx="2">
                <c:v>0.0542</c:v>
              </c:pt>
              <c:pt idx="3">
                <c:v>0.0582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3233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0.07"/>
          <c:min val="-0.0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F0F5"/>
              </a:solidFill>
              <a:prstDash val="solid"/>
            </a:ln>
          </c:spPr>
        </c:majorGridlines>
        <c:numFmt formatCode="0.00"/>
        <c:majorTickMark val="none"/>
        <c:minorTickMark val="none"/>
        <c:tickLblPos val="none"/>
        <c:spPr>
          <a:ln xmlns:a="http://schemas.openxmlformats.org/drawingml/2006/main" w="9525">
            <a:solidFill>
              <a:srgbClr val="DCE4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A88587-02A0-409A-A572-237D9945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D5CA9-0DE2-44B1-A5CA-65029BEC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XGBoostRanker滚动排名模型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56A2D-BF36-4F08-95A9-69AFFF35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模型学习股票的相对顺序，最终输出下一周横截面排名分数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FA0AB-1196-4C51-8DC3-A05D9724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Pairwise训练：同一周内两两比较股票，让真实收益排名更高的股票获得更高预测分数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CFE63-206F-4622-A486-241B5FE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00250" cy="3143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3F4F7-4935-485D-99F7-CCCD7B2B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输入与预处理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E7B1F-F3C1-4EC2-807C-5C973A60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581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0BEB4-81B3-45AA-81D7-2C8D7DA9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五个基本面因子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BD662-12B5-4CC6-826B-0D59F110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581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收入增长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经营盈利能力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现金流 / 资产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负债 / 资产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资产增长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85E05-A00A-4EDB-92B9-67D8421F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1581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每周转换为</a:t>
            </a:r>
          </a:p>
          <a:p xmlns:a="http://schemas.openxmlformats.org/drawingml/2006/main">
            <a:pPr algn="l">
              <a:def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横截面百分位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2E292-684B-493C-9225-8136E857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1200150" cy="167640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3233A"/>
          </a:solidFill>
          <a:ln xmlns:a="http://schemas.openxmlformats.org/drawingml/2006/main" w="9525">
            <a:solidFill>
              <a:srgbClr val="1323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162AC-69F5-499F-BA1F-D22F63A5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3365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训练标签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CA027-392C-45E2-91D1-68EBC464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33700"/>
            <a:ext cx="895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连续target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周内排序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生成0–4级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relevance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90642-4104-4EB1-9B6E-548DB921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98B68-D1ED-4B7F-9C3A-DB31EBF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85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8768B-0D6B-4AC1-99A3-B3A19E6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00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Model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63232-91D7-4B83-98C5-FA368E5A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00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156周窗口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D317B-8D18-41C2-80A3-F4DCDD78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14525"/>
            <a:ext cx="321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五因子，较浅树结构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24A43-CD3F-463F-84A3-95D8DAA6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BD2F6-F84C-4F83-AFB1-E7816355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05100"/>
            <a:ext cx="85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7B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8CC61-7D24-46C4-B26F-464E2863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Model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E77CE-7538-43E9-9263-D1F55E1A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0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87B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87B2"/>
                </a:solidFill>
                <a:latin typeface="PingFang SC"/>
                <a:ea typeface="PingFang SC"/>
                <a:cs typeface="PingFang SC"/>
              </a:rPr>
              <a:t>52周窗口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0B162-C282-4283-858F-FE70DECC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14675"/>
            <a:ext cx="321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经营盈利能力 + 负债 / 资产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94135-032D-41AD-B248-CB6FE8C4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B2A278-6E6C-4370-95DD-B8F5F305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05250"/>
            <a:ext cx="85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8B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48ED23-0771-4AEE-9A99-67715D34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00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Model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0FD54-714E-4999-B1C4-FE1C1AA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C8B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C8B72"/>
                </a:solidFill>
                <a:latin typeface="PingFang SC"/>
                <a:ea typeface="PingFang SC"/>
                <a:cs typeface="PingFang SC"/>
              </a:rPr>
              <a:t>52周窗口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35AEDD-3A9B-4451-A5AE-DBDE3EC1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14825"/>
            <a:ext cx="321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五因子，更强正则化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E9515-1779-4EE7-BE01-A96C0080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57175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6DED5"/>
          </a:solidFill>
          <a:ln xmlns:a="http://schemas.openxmlformats.org/drawingml/2006/main" w="9525">
            <a:solidFill>
              <a:srgbClr val="E46F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FFCE1-0D6B-4C65-9C1E-28A881AE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336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等权集成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EC74E6-5AA5-4B65-AC85-5E0802C4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三个模型的周内百分位</a:t>
            </a:r>
          </a:p>
          <a:p xmlns:a="http://schemas.openxmlformats.org/drawingml/2006/main">
            <a:pPr algn="ctr">
              <a:def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各占 1/3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8A8D01-B817-4C35-AD47-30BBB10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输出：ranking score</a:t>
            </a:r>
          </a:p>
        </p:txBody>
      </p:sp>
      <p:cxnSp>
        <p:nvCxnSpPr>
          <p:cNvPr id="81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609850" y="3181350"/>
            <a:ext cx="4191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4229100" y="1962150"/>
            <a:ext cx="400050" cy="1219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343900" y="1962150"/>
            <a:ext cx="5143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1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229100" y="3162300"/>
            <a:ext cx="40005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9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343900" y="3162300"/>
            <a:ext cx="51435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229100" y="3181350"/>
            <a:ext cx="40005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343900" y="3200400"/>
            <a:ext cx="514350" cy="1162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CE9B98-3559-45C7-B1E5-E7370663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871877-6A1A-4528-A937-5CDE03D6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每26周重新训练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980636-411E-4E58-90EE-E938D609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训练只使用当时已经实现的历史标签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E0B353-0BB9-4FA1-B068-5B00B6E5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ranking score不等于预测收益率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6C1DFB-844C-4DBC-A84F-89DD1B2F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Walk-forward时间顺序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8E2412-CCFE-4634-A25B-5E42DB5E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791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label_end_week ≤ refit_week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F47CEE-C351-48B8-9CF0-1AF0A955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91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target = ln[AdjClose(t+1) / AdjClose(t)]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124296-2A3D-4F3E-B55A-81B72DC9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57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target2不参与训练或评估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DACD03-2835-4C87-A58A-D6FE2A4A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1800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3606E-151D-47C4-9113-EDECE07F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C38B4-D6AC-40CA-96EB-06426324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超参数与因子选择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8DF33-7ACF-415C-9368-14D56FA7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所有候选使用相同的时间交叉验证区间，主指标为Mean Rank 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0CA35-A613-426A-B300-ADF9F2AF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模型选择期：Week 260–521，共262周，划分为4个连续时间段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5A203-E41E-4941-AF09-4FB392C3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模型选择期各阶段最佳Rank IC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1828800"/>
          <a:ext xmlns:a="http://schemas.openxmlformats.org/drawingml/2006/main" cx="6477000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8991251b154b5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B7D97-111C-4F86-86A0-6F4E42C5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04950"/>
            <a:ext cx="190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6D5D2-CCB7-46FD-9FB2-9FBB538D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4305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超参数搜索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0029E-00A3-43DD-89C1-1DCEA956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85950"/>
            <a:ext cx="3476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目标函数：pairwise / NDCG</a:t>
            </a:r>
          </a:p>
          <a:p xmlns:a="http://schemas.openxmlformats.org/drawingml/2006/main">
            <a:pPr algn="l">
              <a:def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树深：2–5</a:t>
            </a:r>
          </a:p>
          <a:p xmlns:a="http://schemas.openxmlformats.org/drawingml/2006/main">
            <a:pPr algn="l">
              <a:def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学习率：0.025–0.08</a:t>
            </a:r>
          </a:p>
          <a:p xmlns:a="http://schemas.openxmlformats.org/drawingml/2006/main">
            <a:pPr algn="l">
              <a:def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树数量：100–360</a:t>
            </a:r>
          </a:p>
          <a:p xmlns:a="http://schemas.openxmlformats.org/drawingml/2006/main">
            <a:pPr algn="l">
              <a:def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min_child_weight：10–20</a:t>
            </a:r>
          </a:p>
          <a:p xmlns:a="http://schemas.openxmlformats.org/drawingml/2006/main">
            <a:pPr algn="l">
              <a:def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L1、L2、gamma与subsample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21E7C-6CE8-4783-838A-CB6CB78F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813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因子筛选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C8809-3687-4CC3-9EDD-35FE004C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242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63组基本面子集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70组单因子增量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38组多因子增量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共171个组合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D7A19-6C1D-45E9-B21A-61EAB86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33800"/>
            <a:ext cx="102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发现期</a:t>
            </a:r>
          </a:p>
          <a:p xmlns:a="http://schemas.openxmlformats.org/drawingml/2006/main">
            <a:pPr algn="ctr">
              <a:def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312–364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F2A7A-FAAF-4140-8AAA-F7AFB416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57675"/>
            <a:ext cx="102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8B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C8B72"/>
                </a:solidFill>
                <a:latin typeface="PingFang SC"/>
                <a:ea typeface="PingFang SC"/>
                <a:cs typeface="PingFang SC"/>
              </a:rPr>
              <a:t>确认期</a:t>
            </a:r>
          </a:p>
          <a:p xmlns:a="http://schemas.openxmlformats.org/drawingml/2006/main">
            <a:pPr algn="ctr">
              <a:defRPr sz="1200" b="1">
                <a:solidFill>
                  <a:srgbClr val="3C8B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C8B72"/>
                </a:solidFill>
                <a:latin typeface="PingFang SC"/>
                <a:ea typeface="PingFang SC"/>
                <a:cs typeface="PingFang SC"/>
              </a:rPr>
              <a:t>365–417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A5128-3A57-452D-8ED9-6AADCDED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0537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选择规则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F7F8B-FA81-4986-A8C0-7D7CEB7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优先Mean Rank IC，同时检查Rank ICIR和最差时间段Rank IC。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FE0CE-8EDA-439E-9418-86C0C9D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0.04896仅代表模型选择期表现，最终冻结模型使用统一的Week 156–521口径重新评估。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746CD-2705-49B3-B386-14D71372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5932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685514-E222-4B8F-AD5F-09813E74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15B66-5C2C-47FC-8093-30CD7E6C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滚动窗口与更新周期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732E2-AB63-4D47-B569-0086DD5F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用时间交叉验证比较窗口长度和重训频率，再冻结最终时间规则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19241-8AD9-4630-A220-30EA8A68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候选训练窗口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C7973-7184-41D6-A2C3-C58F93F9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2573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52   78   104   130   156   208   全部历史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625DD-93AD-4AC2-A65C-BD4E51BA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候选更新周期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FF533-0E85-4EC8-ACA1-8546DB43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57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C8B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C8B72"/>
                </a:solidFill>
                <a:latin typeface="PingFang SC"/>
                <a:ea typeface="PingFang SC"/>
                <a:cs typeface="PingFang SC"/>
              </a:rPr>
              <a:t>2   4   8   13   26周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7389A-7039-4C50-A067-7AC49F99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811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最终选择</a:t>
            </a:r>
          </a:p>
          <a:p xmlns:a="http://schemas.openxmlformats.org/drawingml/2006/main">
            <a:pPr algn="r">
              <a:defRPr sz="120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52周+26周：最佳时间配置</a:t>
            </a:r>
          </a:p>
          <a:p xmlns:a="http://schemas.openxmlformats.org/drawingml/2006/main">
            <a:pPr algn="r">
              <a:defRPr sz="120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156周+26周：最佳单模型</a:t>
            </a:r>
          </a:p>
          <a:p xmlns:a="http://schemas.openxmlformats.org/drawingml/2006/main">
            <a:pPr algn="r">
              <a:defRPr sz="120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两类窗口共同进入集成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AC2FC-CB33-4EDF-8C22-A66E5349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408D7-A18D-4B1E-9D84-769DF797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4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每个重训时点 t 的训练与预测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79708-1C9A-4D5D-A96B-A6E298E1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8575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27549-9674-4B6E-A038-7D0B3C49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Model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74166-A523-43A8-92C7-8600C57A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343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[t−156, t−1]，三年窗口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19B02-EDC3-4EBA-89B3-74D6C34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8575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8B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0358D-6231-4058-B566-99F067BF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Model 2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E50E0-128C-4A32-9F12-C9BEC0DB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2343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[t−52, t−1]，一年窗口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6B447-88EE-42DD-8FAE-FD6259C6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2952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DED5"/>
          </a:solidFill>
          <a:ln xmlns:a="http://schemas.openxmlformats.org/drawingml/2006/main" w="9525">
            <a:solidFill>
              <a:srgbClr val="E46F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FCD01-E0D5-46F6-9038-83E73EB1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预测区间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1776C-F9B4-4AFB-9A2E-D5D347C6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预测 [t, t+25]</a:t>
            </a:r>
          </a:p>
          <a:p xmlns:a="http://schemas.openxmlformats.org/drawingml/2006/main">
            <a:pPr algn="l">
              <a:def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期间不重新训练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95D098-5CE9-4F96-AC51-0A404359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05175"/>
            <a:ext cx="14097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233A"/>
          </a:solidFill>
          <a:ln xmlns:a="http://schemas.openxmlformats.org/drawingml/2006/main" w="9525">
            <a:solidFill>
              <a:srgbClr val="1323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59D26-F005-4821-AE5D-A1A581DF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909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 + 26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重新训练</a:t>
            </a:r>
          </a:p>
        </p:txBody>
      </p: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676650" y="3152775"/>
            <a:ext cx="1504950" cy="485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676650" y="3638550"/>
            <a:ext cx="1504950" cy="447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34350" y="363855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8A5FA-51C9-49BC-A227-549F68BA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71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实际更新周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D03F7-8607-47FD-89DC-97E7438D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71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156   182   208   234   260   …   494   520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CECC56-95DF-42EC-BBA8-BA218F1F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71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15个更新区间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3B90D-8B2E-461E-B72D-81C53128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E98DA5-2883-4E20-861E-22DE16EE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时间泄漏控制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E9FB3-7C34-4EC9-B47F-0151BD9A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训练样本必须满足 label_end_week ≤ refit_week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E5DA4A-E09F-4E17-83EC-0FFBCB70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Week t训练时只能使用已经实现的历史收益标签，不能使用Week t或未来的target。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984B81-C580-4517-A967-A50BD86E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每周预测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061263-D820-4CDD-8B13-7C1CEF83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149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26周内模型参数固定，但每周输入新的股票因子并重新计算横截面排名。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A6320-C658-49FA-8E79-42516225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0224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BCE29-99AF-418F-BB70-3845CA30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70FF9-F0B3-4033-BEC8-BB83A3A1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冻结模型的全时期历史评估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EAE7C-F5CA-4293-91C3-95038EC8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Rank IC是预测排名与下一周真实收益排名之间的Spearman相关系数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1FEAA-E184-4D9B-988F-447E6748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Week 156–521  ·  366周  ·  22,430条逐股预测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4A646-CB6F-44E7-96A3-8F51DB8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单模型与集成模型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90550" y="1857375"/>
          <a:ext xmlns:a="http://schemas.openxmlformats.org/drawingml/2006/main" cx="6191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974f3bae5e48f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926F4-82E1-48FA-BFAA-74BB7F3B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6210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F64BD-02AC-4D09-8D83-BDB7913E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0.0331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0D0D4-FD50-4229-83A8-1B5FB9E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Mean Rank 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AC843-5125-41AC-89FD-E62D5876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61.2%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1B7A3-D685-4F62-9047-05161BAA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051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正Rank IC周比例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C44B0-08BC-4035-AB11-55AA30D6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24275"/>
            <a:ext cx="3371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集成RankIC提高0.00040（1.23%）。</a:t>
            </a:r>
          </a:p>
          <a:p xmlns:a="http://schemas.openxmlformats.org/drawingml/2006/main">
            <a:pPr algn="l">
              <a:def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RankICIR为0.199，略低于Model 1的0.203。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E4E53-910E-463E-BA97-23A9C14F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C3AE2-B84E-492F-B7BD-0782DE3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不同评估阶段的集成Rank 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C287B-D1B6-41E5-A587-3266AEFF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012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前期接近零，后半段更强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590550" y="5143500"/>
          <a:ext xmlns:a="http://schemas.openxmlformats.org/drawingml/2006/main" cx="10839450" cy="1123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f83cb3255040c2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59F14-9C8D-40C7-8FAA-34DC5C74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959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B5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45B58"/>
                </a:solidFill>
                <a:latin typeface="PingFang SC"/>
                <a:ea typeface="PingFang SC"/>
                <a:cs typeface="PingFang SC"/>
              </a:rPr>
              <a:t>−0.0056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FBC01-8B03-4DDE-A2BA-E424C1FB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Walk-forward全时期历史评估，包含模型选择区间，并非独立holdout；未进行投资组合回测。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82065-5340-4ABF-935B-9DD9EDA0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4061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2026-10-05T09:54:45.3620000Z</dcterms:created>
  <dcterms:modified xsi:type="dcterms:W3CDTF">2026-10-05T09:54:45.3620000Z</dcterms:modified>
</coreProperties>
</file>