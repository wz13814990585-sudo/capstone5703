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bfda41abb140d2" /><Relationship Type="http://schemas.openxmlformats.org/officeDocument/2006/relationships/extended-properties" Target="/docProps/app.xml" Id="Rfa2d2d12499148d1" /><Relationship Type="http://schemas.openxmlformats.org/officeDocument/2006/relationships/officeDocument" Target="/ppt/presentation.xml" Id="R839e4f9f4ae34e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581e35939043c3"/>
  </p:sldMasterIdLst>
  <p:notesMasterIdLst>
    <p:notesMasterId xmlns:r="http://schemas.openxmlformats.org/officeDocument/2006/relationships" r:id="Re0edb248eec640fc"/>
  </p:notesMasterIdLst>
  <p:sldIdLst>
    <p:sldId xmlns:r="http://schemas.openxmlformats.org/officeDocument/2006/relationships" id="256" r:id="R039973d9b2184e1d"/>
    <p:sldId xmlns:r="http://schemas.openxmlformats.org/officeDocument/2006/relationships" id="257" r:id="Rc575b9cba11644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b4c4445e9b49aa" /><Relationship Type="http://schemas.openxmlformats.org/officeDocument/2006/relationships/slideMaster" Target="/ppt/slideMasters/slideMaster1.xml" Id="R93581e35939043c3" /><Relationship Type="http://schemas.openxmlformats.org/officeDocument/2006/relationships/notesMaster" Target="/ppt/notesMasters/notesMaster1.xml" Id="Re0edb248eec640fc" /><Relationship Type="http://schemas.openxmlformats.org/officeDocument/2006/relationships/presProps" Target="/ppt/presProps.xml" Id="Rf876f2af9e3945c5" /><Relationship Type="http://schemas.openxmlformats.org/officeDocument/2006/relationships/tableStyles" Target="/ppt/tableStyles.xml" Id="Ra453a418c8924663" /><Relationship Type="http://schemas.openxmlformats.org/officeDocument/2006/relationships/slide" Target="/ppt/slides/slide1.xml" Id="R039973d9b2184e1d" /><Relationship Type="http://schemas.openxmlformats.org/officeDocument/2006/relationships/slide" Target="/ppt/slides/slide2.xml" Id="Rc575b9cba11644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36885907cc4f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b115a7ae1a4c91" /><Relationship Type="http://schemas.openxmlformats.org/officeDocument/2006/relationships/notesMaster" Target="/ppt/notesMasters/notesMaster1.xml" Id="R49942c76c0bd45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4cb26967644dd5" /><Relationship Type="http://schemas.openxmlformats.org/officeDocument/2006/relationships/notesMaster" Target="/ppt/notesMasters/notesMaster1.xml" Id="R4fcd7725ceb948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讲解建议：先说明XGBRanker预测相对排名，而不是收益数值。五个基本面因子先做周内横截面百分位转换。训练阶段由连续下一周收益在每个训练周内生成0–4级relevance label。三个模型分别覆盖长期与短期窗口，最后对周内百分位分数等权平均。每次重训只使用当时已经实现的历史标签。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来源：/Users/april/Desktop/USYD 2026s2/5703/第二版/XGboost_ranker/data/model_configuration.json；/Users/april/Desktop/USYD 2026s2/5703/第二版/XGboost_ranker/README.md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讲解建议：Rank IC衡量预测排名与下一周真实收益排名之间的相关性。三模型集成的Mean Rank IC为0.03311，略高于156周五因子单模型的0.03271；正Rank IC周比例为61.20%，高于所有单模型。分阶段结果显示前期Rank IC接近零，后半段明显更高，因此应表述为整体正向但存在时段差异。结果属于walk-forward历史评估，参数选择参考了同一份历史样本，未进行回测。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来源：/Users/april/Desktop/USYD 2026s2/5703/第二版/XGboost_ranker/data/component_metrics.csv；/Users/april/Desktop/USYD 2026s2/5703/第二版/XGboost_ranker/data/fold_metrics.csv；/Users/april/Desktop/USYD 2026s2/5703/第二版/XGboost_ranker/data/overall_metrics.csv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a7e753b2f941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b6d4ef2d664e08" /><Relationship Type="http://schemas.openxmlformats.org/officeDocument/2006/relationships/slideLayout" Target="/ppt/slideLayouts/slideLayout1.xml" Id="Rc76e00ba7c3146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6e00ba7c3146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102bdc71b47e5" /><Relationship Type="http://schemas.openxmlformats.org/officeDocument/2006/relationships/notesSlide" Target="/ppt/notesSlides/notesSlide1.xml" Id="Recd2f3360d7043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cd7ca80414724" /><Relationship Type="http://schemas.openxmlformats.org/officeDocument/2006/relationships/chart" Target="/ppt/slides/charts/chart1.xml" Id="R6fef41d83d0646e4" /><Relationship Type="http://schemas.openxmlformats.org/officeDocument/2006/relationships/chart" Target="/ppt/slides/charts/chart2.xml" Id="Rd9ee157df94c4c69" /><Relationship Type="http://schemas.openxmlformats.org/officeDocument/2006/relationships/notesSlide" Target="/ppt/notesSlides/notesSlide2.xml" Id="R74bb87ea9bad455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Mean Rank IC</c:v>
          </c:tx>
          <c:spPr>
            <a:solidFill xmlns:a="http://schemas.openxmlformats.org/drawingml/2006/main">
              <a:srgbClr val="5C87B2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2563A6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9BB5C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3C8B72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46F47"/>
              </a:solidFill>
            </c:spPr>
          </c:dPt>
          <c:cat>
            <c:strLit>
              <c:ptCount val="4"/>
              <c:pt idx="0">
                <c:v>156周 / 五因子</c:v>
              </c:pt>
              <c:pt idx="1">
                <c:v>52周 / 两因子</c:v>
              </c:pt>
              <c:pt idx="2">
                <c:v>52周 / 正则五因子</c:v>
              </c:pt>
              <c:pt idx="3">
                <c:v>三模型集成</c:v>
              </c:pt>
            </c:strLit>
          </c:cat>
          <c:val>
            <c:numLit>
              <c:formatCode>0.0000</c:formatCode>
              <c:ptCount val="4"/>
              <c:pt idx="0">
                <c:v>0.032707</c:v>
              </c:pt>
              <c:pt idx="1">
                <c:v>0.023245</c:v>
              </c:pt>
              <c:pt idx="2">
                <c:v>0.027086</c:v>
              </c:pt>
              <c:pt idx="3">
                <c:v>0.033109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3233A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AF0F5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CE4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4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53247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Mean Rank IC</c:v>
          </c:tx>
          <c:spPr>
            <a:solidFill xmlns:a="http://schemas.openxmlformats.org/drawingml/2006/main">
              <a:srgbClr val="2563A6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B45B5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9BB5C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5C87B2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2563A6"/>
              </a:solidFill>
            </c:spPr>
          </c:dPt>
          <c:dLbls>
            <c:dLbl>
              <c:idx val="0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156–246</c:v>
              </c:pt>
              <c:pt idx="1">
                <c:v>247–337</c:v>
              </c:pt>
              <c:pt idx="2">
                <c:v>338–429</c:v>
              </c:pt>
              <c:pt idx="3">
                <c:v>430–521</c:v>
              </c:pt>
            </c:strLit>
          </c:cat>
          <c:val>
            <c:numLit>
              <c:formatCode>0.0000</c:formatCode>
              <c:ptCount val="4"/>
              <c:pt idx="0">
                <c:v>-0.00559</c:v>
              </c:pt>
              <c:pt idx="1">
                <c:v>0.02512</c:v>
              </c:pt>
              <c:pt idx="2">
                <c:v>0.0542</c:v>
              </c:pt>
              <c:pt idx="3">
                <c:v>0.0582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3233A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4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53247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0.07"/>
          <c:min val="-0.01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AF0F5"/>
              </a:solidFill>
              <a:prstDash val="solid"/>
            </a:ln>
          </c:spPr>
        </c:majorGridlines>
        <c:numFmt formatCode="0.00"/>
        <c:majorTickMark val="none"/>
        <c:minorTickMark val="none"/>
        <c:tickLblPos val="none"/>
        <c:spPr>
          <a:ln xmlns:a="http://schemas.openxmlformats.org/drawingml/2006/main" w="9525">
            <a:solidFill>
              <a:srgbClr val="DCE4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  <c:majorUnit val="0.0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906A221-CA06-47A1-995F-5F71D138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F4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A0D7EA-191A-4B0F-BBB3-0047AB00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33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3233A"/>
                </a:solidFill>
                <a:latin typeface="PingFang SC"/>
                <a:ea typeface="PingFang SC"/>
                <a:cs typeface="PingFang SC"/>
              </a:rPr>
              <a:t>XGBoostRanker滚动排名模型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8D3AE1-5E7B-488B-901C-98FF536B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620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模型学习股票的相对顺序，最终输出下一周横截面排名分数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466572-6BBE-44B6-B319-0DCCF385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000250" cy="3143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554DD2-87A2-4D90-937B-25007B61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3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3233A"/>
                </a:solidFill>
                <a:latin typeface="PingFang SC"/>
                <a:ea typeface="PingFang SC"/>
                <a:cs typeface="PingFang SC"/>
              </a:rPr>
              <a:t>输入与预处理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332AD4-261F-494F-AF63-385D7A54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1581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E7C18A-295B-4956-9081-DF7695A6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A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A6"/>
                </a:solidFill>
                <a:latin typeface="PingFang SC"/>
                <a:ea typeface="PingFang SC"/>
                <a:cs typeface="PingFang SC"/>
              </a:rPr>
              <a:t>五个基本面因子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A37F90-4553-4F61-AA86-6950F8D5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1581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324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53247"/>
                </a:solidFill>
                <a:latin typeface="PingFang SC"/>
                <a:ea typeface="PingFang SC"/>
                <a:cs typeface="PingFang SC"/>
              </a:rPr>
              <a:t>收入增长</a:t>
            </a:r>
          </a:p>
          <a:p xmlns:a="http://schemas.openxmlformats.org/drawingml/2006/main">
            <a:pPr algn="l">
              <a:defRPr sz="1275" b="0">
                <a:solidFill>
                  <a:srgbClr val="25324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53247"/>
                </a:solidFill>
                <a:latin typeface="PingFang SC"/>
                <a:ea typeface="PingFang SC"/>
                <a:cs typeface="PingFang SC"/>
              </a:rPr>
              <a:t>经营盈利能力</a:t>
            </a:r>
          </a:p>
          <a:p xmlns:a="http://schemas.openxmlformats.org/drawingml/2006/main">
            <a:pPr algn="l">
              <a:defRPr sz="1275" b="0">
                <a:solidFill>
                  <a:srgbClr val="25324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53247"/>
                </a:solidFill>
                <a:latin typeface="PingFang SC"/>
                <a:ea typeface="PingFang SC"/>
                <a:cs typeface="PingFang SC"/>
              </a:rPr>
              <a:t>现金流 / 资产</a:t>
            </a:r>
          </a:p>
          <a:p xmlns:a="http://schemas.openxmlformats.org/drawingml/2006/main">
            <a:pPr algn="l">
              <a:defRPr sz="1275" b="0">
                <a:solidFill>
                  <a:srgbClr val="25324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53247"/>
                </a:solidFill>
                <a:latin typeface="PingFang SC"/>
                <a:ea typeface="PingFang SC"/>
                <a:cs typeface="PingFang SC"/>
              </a:rPr>
              <a:t>负债 / 资产</a:t>
            </a:r>
          </a:p>
          <a:p xmlns:a="http://schemas.openxmlformats.org/drawingml/2006/main">
            <a:pPr algn="l">
              <a:defRPr sz="1275" b="0">
                <a:solidFill>
                  <a:srgbClr val="25324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53247"/>
                </a:solidFill>
                <a:latin typeface="PingFang SC"/>
                <a:ea typeface="PingFang SC"/>
                <a:cs typeface="PingFang SC"/>
              </a:rPr>
              <a:t>资产增长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76600A-E1F9-4BC6-A6BF-F850E63B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48125"/>
            <a:ext cx="1581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46F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46F47"/>
                </a:solidFill>
                <a:latin typeface="PingFang SC"/>
                <a:ea typeface="PingFang SC"/>
                <a:cs typeface="PingFang SC"/>
              </a:rPr>
              <a:t>每周转换为</a:t>
            </a:r>
          </a:p>
          <a:p xmlns:a="http://schemas.openxmlformats.org/drawingml/2006/main">
            <a:pPr algn="l">
              <a:defRPr sz="1350" b="1">
                <a:solidFill>
                  <a:srgbClr val="E46F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46F47"/>
                </a:solidFill>
                <a:latin typeface="PingFang SC"/>
                <a:ea typeface="PingFang SC"/>
                <a:cs typeface="PingFang SC"/>
              </a:rPr>
              <a:t>横截面百分位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AA5D2B-5C4C-434E-8D13-62C37A4F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43150"/>
            <a:ext cx="1200150" cy="167640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13233A"/>
          </a:solidFill>
          <a:ln xmlns:a="http://schemas.openxmlformats.org/drawingml/2006/main" w="9525">
            <a:solidFill>
              <a:srgbClr val="1323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BDD8B5-887D-4F59-9534-CA362D02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533650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训练标签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057D4C-9D3B-4F91-921E-93C7BA55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33700"/>
            <a:ext cx="895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连续target</a:t>
            </a:r>
          </a:p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周内排序</a:t>
            </a:r>
          </a:p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生成0–4级</a:t>
            </a:r>
          </a:p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relevance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B6B774-CE13-4754-A70D-A2127C9E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3714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8B1188-FAA2-4441-984E-726FA3CD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04950"/>
            <a:ext cx="857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A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E12A9D-9240-4717-87DB-B8C0EACF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600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3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3233A"/>
                </a:solidFill>
                <a:latin typeface="PingFang SC"/>
                <a:ea typeface="PingFang SC"/>
                <a:cs typeface="PingFang SC"/>
              </a:rPr>
              <a:t>Model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7A290F-83BF-41E2-844E-D53A0431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002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563A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A6"/>
                </a:solidFill>
                <a:latin typeface="PingFang SC"/>
                <a:ea typeface="PingFang SC"/>
                <a:cs typeface="PingFang SC"/>
              </a:rPr>
              <a:t>156周窗口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20CCC5-25A4-48A1-8A28-609F77A8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914525"/>
            <a:ext cx="321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五因子，较浅树结构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933FC6-07FD-4D67-8174-7E08B6A1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05100"/>
            <a:ext cx="3714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1925D1-9F20-4B84-BC27-D4F01D99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05100"/>
            <a:ext cx="857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87B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5A7DB2-B35F-4975-A20A-BF9575D7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003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3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3233A"/>
                </a:solidFill>
                <a:latin typeface="PingFang SC"/>
                <a:ea typeface="PingFang SC"/>
                <a:cs typeface="PingFang SC"/>
              </a:rPr>
              <a:t>Model 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423BFA-0642-4BD8-BCDA-6EC3DA98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003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C87B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C87B2"/>
                </a:solidFill>
                <a:latin typeface="PingFang SC"/>
                <a:ea typeface="PingFang SC"/>
                <a:cs typeface="PingFang SC"/>
              </a:rPr>
              <a:t>52周窗口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67403F-9BDF-4824-A7A2-F99F0852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14675"/>
            <a:ext cx="321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经营盈利能力 + 负债 / 资产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9AA69F-4291-4D4B-AEF2-6DCC1A85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05250"/>
            <a:ext cx="3714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3D6C1A-B76D-4026-AE82-18D51478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05250"/>
            <a:ext cx="857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8B7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345D1B-972B-4D5D-BC31-75E71C47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00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3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3233A"/>
                </a:solidFill>
                <a:latin typeface="PingFang SC"/>
                <a:ea typeface="PingFang SC"/>
                <a:cs typeface="PingFang SC"/>
              </a:rPr>
              <a:t>Model 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90F2DB-B384-413A-AA0F-645141EC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C8B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3C8B72"/>
                </a:solidFill>
                <a:latin typeface="PingFang SC"/>
                <a:ea typeface="PingFang SC"/>
                <a:cs typeface="PingFang SC"/>
              </a:rPr>
              <a:t>52周窗口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FC8331-EDF2-4E62-88A5-10463380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14825"/>
            <a:ext cx="321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五因子，更强正则化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5269E3-8A6F-4646-A55D-62871D53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33625"/>
            <a:ext cx="2571750" cy="1733550"/>
          </a:xfrm>
          <a:prstGeom xmlns:a="http://schemas.openxmlformats.org/drawingml/2006/main" prst="roundRect">
            <a:avLst>
              <a:gd name="adj" fmla="val 9890"/>
            </a:avLst>
          </a:prstGeom>
          <a:solidFill xmlns:a="http://schemas.openxmlformats.org/drawingml/2006/main">
            <a:srgbClr val="F6DED5"/>
          </a:solidFill>
          <a:ln xmlns:a="http://schemas.openxmlformats.org/drawingml/2006/main" w="9525">
            <a:solidFill>
              <a:srgbClr val="E46F4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407AC0-A5A6-43CD-8B3A-7C509C9F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3365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3233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3233A"/>
                </a:solidFill>
                <a:latin typeface="PingFang SC"/>
                <a:ea typeface="PingFang SC"/>
                <a:cs typeface="PingFang SC"/>
              </a:rPr>
              <a:t>等权集成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81AA91-F61E-4EA7-AD13-823B467C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0990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532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53247"/>
                </a:solidFill>
                <a:latin typeface="PingFang SC"/>
                <a:ea typeface="PingFang SC"/>
                <a:cs typeface="PingFang SC"/>
              </a:rPr>
              <a:t>三个模型的周内百分位</a:t>
            </a:r>
          </a:p>
          <a:p xmlns:a="http://schemas.openxmlformats.org/drawingml/2006/main">
            <a:pPr algn="ctr">
              <a:defRPr sz="1350" b="0">
                <a:solidFill>
                  <a:srgbClr val="2532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53247"/>
                </a:solidFill>
                <a:latin typeface="PingFang SC"/>
                <a:ea typeface="PingFang SC"/>
                <a:cs typeface="PingFang SC"/>
              </a:rPr>
              <a:t>各占 1/3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40FE53-43D8-4691-81C0-7ECD46AD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385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46F4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E46F47"/>
                </a:solidFill>
                <a:latin typeface="PingFang SC"/>
                <a:ea typeface="PingFang SC"/>
                <a:cs typeface="PingFang SC"/>
              </a:rPr>
              <a:t>输出：ranking score</a:t>
            </a:r>
          </a:p>
        </p:txBody>
      </p:sp>
      <p:cxnSp>
        <p:nvCxnSpPr>
          <p:cNvPr id="78" name=""/>
          <p:cNvCxnSpPr>
            <a:stCxn xmlns:a="http://schemas.openxmlformats.org/drawingml/2006/main" id="4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2609850" y="3181350"/>
            <a:ext cx="4191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BB5CF"/>
            </a:solidFill>
            <a:prstDash val="solid"/>
            <a:tailEnd type="triangle" w="sm" len="sm"/>
          </a:ln>
        </p:spPr>
      </p:cxnSp>
      <p:cxnSp>
        <p:nvCxnSpPr>
          <p:cNvPr id="79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4229100" y="1962150"/>
            <a:ext cx="400050" cy="1219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BB5CF"/>
            </a:solidFill>
            <a:prstDash val="solid"/>
            <a:tailEnd type="triangle" w="sm" len="sm"/>
          </a:ln>
        </p:spPr>
      </p:cxnSp>
      <p:cxnSp>
        <p:nvCxnSpPr>
          <p:cNvPr id="80" name=""/>
          <p:cNvCxnSpPr>
            <a:stCxn xmlns:a="http://schemas.openxmlformats.org/drawingml/2006/main" id="13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8343900" y="1962150"/>
            <a:ext cx="514350" cy="1238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BB5CF"/>
            </a:solidFill>
            <a:prstDash val="solid"/>
            <a:tailEnd type="triangle" w="sm" len="sm"/>
          </a:ln>
        </p:spPr>
      </p:cxnSp>
      <p:cxnSp>
        <p:nvCxnSpPr>
          <p:cNvPr id="81" name=""/>
          <p:cNvCxnSpPr>
            <a:stCxn xmlns:a="http://schemas.openxmlformats.org/drawingml/2006/main" id="10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4229100" y="3162300"/>
            <a:ext cx="400050" cy="19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BB5CF"/>
            </a:solidFill>
            <a:prstDash val="solid"/>
            <a:tailEnd type="triangle" w="sm" len="sm"/>
          </a:ln>
        </p:spPr>
      </p:cxnSp>
      <p:cxnSp>
        <p:nvCxnSpPr>
          <p:cNvPr id="82" name=""/>
          <p:cNvCxnSpPr>
            <a:stCxn xmlns:a="http://schemas.openxmlformats.org/drawingml/2006/main" id="18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8343900" y="3162300"/>
            <a:ext cx="514350" cy="38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BB5CF"/>
            </a:solidFill>
            <a:prstDash val="solid"/>
            <a:tailEnd type="triangle" w="sm" len="sm"/>
          </a:ln>
        </p:spPr>
      </p:cxnSp>
      <p:cxnSp>
        <p:nvCxnSpPr>
          <p:cNvPr id="83" name=""/>
          <p:cNvCxnSpPr>
            <a:stCxn xmlns:a="http://schemas.openxmlformats.org/drawingml/2006/main" id="1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4229100" y="3181350"/>
            <a:ext cx="400050" cy="1181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BB5CF"/>
            </a:solidFill>
            <a:prstDash val="solid"/>
            <a:tailEnd type="triangle" w="sm" len="sm"/>
          </a:ln>
        </p:spPr>
      </p:cxnSp>
      <p:cxnSp>
        <p:nvCxnSpPr>
          <p:cNvPr id="84" name=""/>
          <p:cNvCxnSpPr>
            <a:stCxn xmlns:a="http://schemas.openxmlformats.org/drawingml/2006/main" id="23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 flipV="1">
            <a:off x="8343900" y="3200400"/>
            <a:ext cx="514350" cy="1162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BB5CF"/>
            </a:solidFill>
            <a:prstDash val="solid"/>
            <a:tailEnd type="triangle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47A56B-F120-48B3-AEE5-DBAABB13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14C57F-88FE-49AE-9008-D73D22D5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3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3233A"/>
                </a:solidFill>
                <a:latin typeface="PingFang SC"/>
                <a:ea typeface="PingFang SC"/>
                <a:cs typeface="PingFang SC"/>
              </a:rPr>
              <a:t>每26周重新训练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F1BDAD0-74DA-40A9-A1F2-8EB2901A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4292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3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3233A"/>
                </a:solidFill>
                <a:latin typeface="PingFang SC"/>
                <a:ea typeface="PingFang SC"/>
                <a:cs typeface="PingFang SC"/>
              </a:rPr>
              <a:t>训练只使用当时已经实现的历史标签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E6071A-3F10-4ED2-A704-4AFF4C06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292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3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3233A"/>
                </a:solidFill>
                <a:latin typeface="PingFang SC"/>
                <a:ea typeface="PingFang SC"/>
                <a:cs typeface="PingFang SC"/>
              </a:rPr>
              <a:t>ranking score不等于预测收益率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B24CEC-DA56-468B-9CF1-FABD7B98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Walk-forward时间顺序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41468EC-F906-43EA-BD1E-BBF1248C8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7912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label_end_week ≤ refit_week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9774E73-C421-431A-8363-1B113A03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7912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最终用连续下一周收益评估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F97555D-1577-4559-BACA-9DCA5C8B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79993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4D2E6C-2225-469E-ABB4-CBAAD9BE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F4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2AAD3-69EA-4E91-9D62-60C0BF9E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33A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3233A"/>
                </a:solidFill>
                <a:latin typeface="PingFang SC"/>
                <a:ea typeface="PingFang SC"/>
                <a:cs typeface="PingFang SC"/>
              </a:rPr>
              <a:t>三模型集成的最终评估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4E537-670D-486F-8399-40D7E323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620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Rank IC是预测排名与下一周真实收益排名之间的Spearman相关系数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FAE6E-C171-4E9D-A8C3-37642C73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668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A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563A6"/>
                </a:solidFill>
                <a:latin typeface="PingFang SC"/>
                <a:ea typeface="PingFang SC"/>
                <a:cs typeface="PingFang SC"/>
              </a:rPr>
              <a:t>Week 156–521  ·  366周  ·  22,430条逐股预测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F709F0-7207-4624-A82F-D9433AD0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595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3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3233A"/>
                </a:solidFill>
                <a:latin typeface="PingFang SC"/>
                <a:ea typeface="PingFang SC"/>
                <a:cs typeface="PingFang SC"/>
              </a:rPr>
              <a:t>单模型与集成模型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590550" y="1857375"/>
          <a:ext xmlns:a="http://schemas.openxmlformats.org/drawingml/2006/main" cx="619125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fef41d83d0646e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3D15D0-F272-44EC-A43B-92CC912A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562100"/>
            <a:ext cx="190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065484-A698-46BB-867D-C5798993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19250"/>
            <a:ext cx="304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46F47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E46F47"/>
                </a:solidFill>
                <a:latin typeface="PingFang SC"/>
                <a:ea typeface="PingFang SC"/>
                <a:cs typeface="PingFang SC"/>
              </a:rPr>
              <a:t>0.0331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A97155-C949-441A-B025-6E6729FE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66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3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3233A"/>
                </a:solidFill>
                <a:latin typeface="PingFang SC"/>
                <a:ea typeface="PingFang SC"/>
                <a:cs typeface="PingFang SC"/>
              </a:rPr>
              <a:t>Mean Rank 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EFC258-327E-4339-803D-F72904E1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14625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563A6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2563A6"/>
                </a:solidFill>
                <a:latin typeface="PingFang SC"/>
                <a:ea typeface="PingFang SC"/>
                <a:cs typeface="PingFang SC"/>
              </a:rPr>
              <a:t>61.2%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996DF0-2584-4633-8577-BA924038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051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233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3233A"/>
                </a:solidFill>
                <a:latin typeface="PingFang SC"/>
                <a:ea typeface="PingFang SC"/>
                <a:cs typeface="PingFang SC"/>
              </a:rPr>
              <a:t>正Rank IC周比例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9A9FB6-E275-4FB3-ADA6-EC6B6639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24275"/>
            <a:ext cx="3371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32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253247"/>
                </a:solidFill>
                <a:latin typeface="PingFang SC"/>
                <a:ea typeface="PingFang SC"/>
                <a:cs typeface="PingFang SC"/>
              </a:rPr>
              <a:t>集成模型的平均Rank IC略高于最佳单模型，正向周比例也最高。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419384-AF7A-44DA-BD71-9167CD1F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150AA1-7C1C-4BE9-B4C3-FBA461F3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3905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3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3233A"/>
                </a:solidFill>
                <a:latin typeface="PingFang SC"/>
                <a:ea typeface="PingFang SC"/>
                <a:cs typeface="PingFang SC"/>
              </a:rPr>
              <a:t>不同评估阶段的集成Rank 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98A380-8ADA-43D7-A9A4-D13F4464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10125"/>
            <a:ext cx="3429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E46F4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46F47"/>
                </a:solidFill>
                <a:latin typeface="PingFang SC"/>
                <a:ea typeface="PingFang SC"/>
                <a:cs typeface="PingFang SC"/>
              </a:rPr>
              <a:t>前期接近零，后半段更强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590550" y="5143500"/>
          <a:ext xmlns:a="http://schemas.openxmlformats.org/drawingml/2006/main" cx="10839450" cy="1123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9ee157df94c4c69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C567F5-6DF6-4A19-BF93-C8128F09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6959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5B58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B45B58"/>
                </a:solidFill>
                <a:latin typeface="PingFang SC"/>
                <a:ea typeface="PingFang SC"/>
                <a:cs typeface="PingFang SC"/>
              </a:rPr>
              <a:t>−0.0056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39060B-6B35-4E01-8A40-74B4E572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Walk-forward历史评估；参数选择参考了同一历史样本；未进行投资组合回测。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520075-B392-408C-9251-D85F1592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708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3708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107870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2026-10-05T09:21:13.7050000Z</dcterms:created>
  <dcterms:modified xsi:type="dcterms:W3CDTF">2026-10-05T09:21:13.7050000Z</dcterms:modified>
</coreProperties>
</file>